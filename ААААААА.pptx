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95"/>
  </p:normalViewPr>
  <p:slideViewPr>
    <p:cSldViewPr snapToGrid="0" snapToObjects="1">
      <p:cViewPr varScale="1">
        <p:scale>
          <a:sx n="113" d="100"/>
          <a:sy n="113" d="100"/>
        </p:scale>
        <p:origin x="712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744200" y="356949"/>
            <a:ext cx="73152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dirty="0">
                <a:solidFill>
                  <a:srgbClr val="96969B"/>
                </a:solidFill>
                <a:latin typeface="Aptos"/>
              </a:rPr>
              <a:t>01 / 0</a:t>
            </a:r>
            <a:r>
              <a:rPr lang="ru-RU" sz="1000" b="0" dirty="0">
                <a:solidFill>
                  <a:srgbClr val="96969B"/>
                </a:solidFill>
                <a:latin typeface="Aptos"/>
              </a:rPr>
              <a:t>5</a:t>
            </a:r>
            <a:endParaRPr sz="1000" b="0" dirty="0">
              <a:solidFill>
                <a:srgbClr val="96969B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1236553"/>
            <a:ext cx="7955279" cy="113877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 dirty="0">
                <a:solidFill>
                  <a:srgbClr val="F5F5F5"/>
                </a:solidFill>
                <a:latin typeface="Aptos"/>
              </a:rPr>
              <a:t>UI-</a:t>
            </a:r>
            <a:r>
              <a:rPr sz="3400" b="1" dirty="0" err="1">
                <a:solidFill>
                  <a:srgbClr val="F5F5F5"/>
                </a:solidFill>
                <a:latin typeface="Aptos"/>
              </a:rPr>
              <a:t>библиотека</a:t>
            </a:r>
            <a:r>
              <a:rPr sz="3400" b="1" dirty="0">
                <a:solidFill>
                  <a:srgbClr val="F5F5F5"/>
                </a:solidFill>
                <a:latin typeface="Aptos"/>
              </a:rPr>
              <a:t> </a:t>
            </a:r>
            <a:r>
              <a:rPr sz="3400" b="1" dirty="0" err="1">
                <a:solidFill>
                  <a:srgbClr val="F5F5F5"/>
                </a:solidFill>
                <a:latin typeface="Aptos"/>
              </a:rPr>
              <a:t>для</a:t>
            </a:r>
            <a:br>
              <a:rPr dirty="0"/>
            </a:br>
            <a:r>
              <a:rPr sz="3400" b="1" dirty="0" err="1">
                <a:solidFill>
                  <a:srgbClr val="F5F5F5"/>
                </a:solidFill>
                <a:latin typeface="Aptos"/>
              </a:rPr>
              <a:t>быстрой</a:t>
            </a:r>
            <a:r>
              <a:rPr sz="3400" b="1" dirty="0">
                <a:solidFill>
                  <a:srgbClr val="F5F5F5"/>
                </a:solidFill>
                <a:latin typeface="Aptos"/>
              </a:rPr>
              <a:t> </a:t>
            </a:r>
            <a:r>
              <a:rPr sz="3400" b="1" dirty="0" err="1">
                <a:solidFill>
                  <a:srgbClr val="F5F5F5"/>
                </a:solidFill>
                <a:latin typeface="Aptos"/>
              </a:rPr>
              <a:t>разработки</a:t>
            </a:r>
            <a:r>
              <a:rPr sz="3400" b="1" dirty="0">
                <a:solidFill>
                  <a:srgbClr val="F5F5F5"/>
                </a:solidFill>
                <a:latin typeface="Aptos"/>
              </a:rPr>
              <a:t> </a:t>
            </a:r>
            <a:r>
              <a:rPr lang="ru-RU" sz="3400" b="1" dirty="0">
                <a:solidFill>
                  <a:srgbClr val="F5F5F5"/>
                </a:solidFill>
                <a:latin typeface="Aptos"/>
              </a:rPr>
              <a:t>фронтенда</a:t>
            </a:r>
            <a:endParaRPr sz="3400" b="1" dirty="0">
              <a:solidFill>
                <a:srgbClr val="F5F5F5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2788920"/>
            <a:ext cx="7132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96969B"/>
                </a:solidFill>
                <a:latin typeface="Aptos"/>
              </a:rPr>
              <a:t>Цель — дать backend-разработчикам возможность собирать типовые интерфейсы без глубокого погружения во frontend.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3960" y="2325693"/>
            <a:ext cx="2408484" cy="12464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 dirty="0" err="1">
                <a:solidFill>
                  <a:srgbClr val="F5F5F5"/>
                </a:solidFill>
                <a:latin typeface="Aptos"/>
              </a:rPr>
              <a:t>Конструктор</a:t>
            </a:r>
            <a:br>
              <a:rPr dirty="0"/>
            </a:br>
            <a:r>
              <a:rPr sz="2500" b="1" dirty="0" err="1">
                <a:solidFill>
                  <a:srgbClr val="F5F5F5"/>
                </a:solidFill>
                <a:latin typeface="Aptos"/>
              </a:rPr>
              <a:t>бизнес-интерфейсов</a:t>
            </a:r>
            <a:endParaRPr sz="2500" b="1" dirty="0">
              <a:solidFill>
                <a:srgbClr val="F5F5F5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823960" y="4160520"/>
            <a:ext cx="2011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6991FF"/>
                </a:solidFill>
                <a:latin typeface="Aptos"/>
              </a:rPr>
              <a:t>config → CRUD →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4709160"/>
            <a:ext cx="2057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6969B"/>
                </a:solidFill>
                <a:latin typeface="Aptos"/>
              </a:rPr>
              <a:t>React остаётся под капотом.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0040"/>
            <a:ext cx="6400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96969B"/>
                </a:solidFill>
                <a:latin typeface="Aptos"/>
              </a:rPr>
              <a:t>ЧТО МЕНЯЕТСЯ ДЛЯ РАЗРАБОТЧИКА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56949"/>
            <a:ext cx="73152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dirty="0">
                <a:solidFill>
                  <a:srgbClr val="96969B"/>
                </a:solidFill>
                <a:latin typeface="Aptos"/>
              </a:rPr>
              <a:t>02 / 0</a:t>
            </a:r>
            <a:r>
              <a:rPr lang="ru-RU" sz="1000" dirty="0">
                <a:solidFill>
                  <a:srgbClr val="96969B"/>
                </a:solidFill>
                <a:latin typeface="Aptos"/>
              </a:rPr>
              <a:t>5</a:t>
            </a:r>
            <a:endParaRPr sz="1000" b="0" dirty="0">
              <a:solidFill>
                <a:srgbClr val="96969B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786384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b="1">
                <a:solidFill>
                  <a:srgbClr val="F5F5F5"/>
                </a:solidFill>
                <a:latin typeface="Aptos"/>
              </a:rPr>
              <a:t>Из ручной сборки —</a:t>
            </a:r>
            <a:br/>
            <a:r>
              <a:rPr sz="3100" b="1">
                <a:solidFill>
                  <a:srgbClr val="F5F5F5"/>
                </a:solidFill>
                <a:latin typeface="Aptos"/>
              </a:rPr>
              <a:t>в декларативное описание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2423160"/>
            <a:ext cx="4892040" cy="3337560"/>
          </a:xfrm>
          <a:prstGeom prst="roundRect">
            <a:avLst>
              <a:gd name="adj" fmla="val 8000"/>
            </a:avLst>
          </a:prstGeom>
          <a:solidFill>
            <a:srgbClr val="0E0E10"/>
          </a:solidFill>
          <a:ln>
            <a:solidFill>
              <a:srgbClr val="303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2670048"/>
            <a:ext cx="2468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6991FF"/>
                </a:solidFill>
                <a:latin typeface="Aptos"/>
              </a:rPr>
              <a:t>resource: 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3154680"/>
            <a:ext cx="1417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5F5F5"/>
                </a:solidFill>
                <a:latin typeface="Aptos"/>
              </a:rPr>
              <a:t>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3154680"/>
            <a:ext cx="26060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96969B"/>
                </a:solidFill>
                <a:latin typeface="Aptos"/>
              </a:rPr>
              <a:t>text · required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685032"/>
            <a:ext cx="1417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5F5F5"/>
                </a:solidFill>
                <a:latin typeface="Aptos"/>
              </a:rPr>
              <a:t>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3685032"/>
            <a:ext cx="26060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96969B"/>
                </a:solidFill>
                <a:latin typeface="Aptos"/>
              </a:rPr>
              <a:t>select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4215384"/>
            <a:ext cx="1417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5F5F5"/>
                </a:solidFill>
                <a:latin typeface="Aptos"/>
              </a:rPr>
              <a:t>active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4215384"/>
            <a:ext cx="26060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96969B"/>
                </a:solidFill>
                <a:latin typeface="Aptos"/>
              </a:rPr>
              <a:t>boolean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745736"/>
            <a:ext cx="1417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5F5F5"/>
                </a:solidFill>
                <a:latin typeface="Aptos"/>
              </a:rPr>
              <a:t>created_at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4745736"/>
            <a:ext cx="26060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96969B"/>
                </a:solidFill>
                <a:latin typeface="Aptos"/>
              </a:rPr>
              <a:t>datetime · readonly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5321808"/>
            <a:ext cx="3840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6969B"/>
                </a:solidFill>
                <a:latin typeface="Aptos"/>
              </a:rPr>
              <a:t>Один конфиг описывает сущность.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33872" y="3675887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6991FF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2423160"/>
            <a:ext cx="4983480" cy="868680"/>
          </a:xfrm>
          <a:prstGeom prst="roundRect">
            <a:avLst>
              <a:gd name="adj" fmla="val 8000"/>
            </a:avLst>
          </a:prstGeom>
          <a:solidFill>
            <a:srgbClr val="0E0E10"/>
          </a:solidFill>
          <a:ln>
            <a:solidFill>
              <a:srgbClr val="303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20840" y="2587752"/>
            <a:ext cx="1051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5F5F5"/>
                </a:solidFill>
                <a:latin typeface="Aptos"/>
              </a:rPr>
              <a:t>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2539799"/>
            <a:ext cx="315468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ru-RU" sz="1200" b="0" dirty="0">
                <a:solidFill>
                  <a:srgbClr val="96969B"/>
                </a:solidFill>
                <a:latin typeface="Aptos"/>
              </a:rPr>
              <a:t>пагинация </a:t>
            </a:r>
            <a:r>
              <a:rPr lang="en" sz="1200" b="0" dirty="0">
                <a:solidFill>
                  <a:srgbClr val="96969B"/>
                </a:solidFill>
                <a:latin typeface="Aptos"/>
              </a:rPr>
              <a:t>· </a:t>
            </a:r>
            <a:r>
              <a:rPr lang="ru-RU" sz="1200" b="0" dirty="0">
                <a:solidFill>
                  <a:srgbClr val="96969B"/>
                </a:solidFill>
                <a:latin typeface="Aptos"/>
              </a:rPr>
              <a:t>сортировка </a:t>
            </a:r>
            <a:r>
              <a:rPr lang="en" sz="1200" b="0" dirty="0">
                <a:solidFill>
                  <a:srgbClr val="96969B"/>
                </a:solidFill>
                <a:latin typeface="Aptos"/>
              </a:rPr>
              <a:t>· </a:t>
            </a:r>
            <a:r>
              <a:rPr lang="ru-RU" sz="1200" b="0" dirty="0">
                <a:solidFill>
                  <a:srgbClr val="96969B"/>
                </a:solidFill>
                <a:latin typeface="Aptos"/>
              </a:rPr>
              <a:t>фильтры и прочее</a:t>
            </a:r>
            <a:endParaRPr lang="en" sz="1200" b="0" dirty="0">
              <a:solidFill>
                <a:srgbClr val="96969B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446520" y="3538728"/>
            <a:ext cx="4983480" cy="868680"/>
          </a:xfrm>
          <a:prstGeom prst="roundRect">
            <a:avLst>
              <a:gd name="adj" fmla="val 8000"/>
            </a:avLst>
          </a:prstGeom>
          <a:solidFill>
            <a:srgbClr val="0E0E10"/>
          </a:solidFill>
          <a:ln>
            <a:solidFill>
              <a:srgbClr val="303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20840" y="3703320"/>
            <a:ext cx="1051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5F5F5"/>
                </a:solidFill>
                <a:latin typeface="Aptos"/>
              </a:rPr>
              <a:t>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3747700"/>
            <a:ext cx="315468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ru-RU" sz="1200" b="0" dirty="0">
                <a:solidFill>
                  <a:srgbClr val="96969B"/>
                </a:solidFill>
                <a:latin typeface="Aptos"/>
              </a:rPr>
              <a:t>валидация</a:t>
            </a:r>
            <a:r>
              <a:rPr sz="1200" b="0" dirty="0">
                <a:solidFill>
                  <a:srgbClr val="96969B"/>
                </a:solidFill>
                <a:latin typeface="Aptos"/>
              </a:rPr>
              <a:t> · </a:t>
            </a:r>
            <a:r>
              <a:rPr lang="ru-RU" sz="1200" b="0" dirty="0">
                <a:solidFill>
                  <a:srgbClr val="96969B"/>
                </a:solidFill>
                <a:latin typeface="Aptos"/>
              </a:rPr>
              <a:t>ошибки</a:t>
            </a:r>
            <a:r>
              <a:rPr sz="1200" b="0" dirty="0">
                <a:solidFill>
                  <a:srgbClr val="96969B"/>
                </a:solidFill>
                <a:latin typeface="Aptos"/>
              </a:rPr>
              <a:t> · </a:t>
            </a:r>
            <a:r>
              <a:rPr lang="ru-RU" sz="1200" b="0" dirty="0">
                <a:solidFill>
                  <a:srgbClr val="96969B"/>
                </a:solidFill>
                <a:latin typeface="Aptos"/>
              </a:rPr>
              <a:t>состояние</a:t>
            </a:r>
            <a:endParaRPr sz="1200" b="0" dirty="0">
              <a:solidFill>
                <a:srgbClr val="96969B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446520" y="4654296"/>
            <a:ext cx="4983480" cy="868680"/>
          </a:xfrm>
          <a:prstGeom prst="roundRect">
            <a:avLst>
              <a:gd name="adj" fmla="val 8000"/>
            </a:avLst>
          </a:prstGeom>
          <a:solidFill>
            <a:srgbClr val="0E0E10"/>
          </a:solidFill>
          <a:ln>
            <a:solidFill>
              <a:srgbClr val="303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20840" y="4818888"/>
            <a:ext cx="1051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5F5F5"/>
                </a:solidFill>
                <a:latin typeface="Aptos"/>
              </a:rPr>
              <a:t>DETAIL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4818888"/>
            <a:ext cx="3154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6969B"/>
                </a:solidFill>
                <a:latin typeface="Aptos"/>
              </a:rPr>
              <a:t>единое отображение полей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5806440"/>
            <a:ext cx="4709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6969B"/>
                </a:solidFill>
                <a:latin typeface="Aptos"/>
              </a:rPr>
              <a:t>Backend-разработчик думает сущностями и API, а не состоянием модалок, хуками и UI boilerplate.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0040"/>
            <a:ext cx="6400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96969B"/>
                </a:solidFill>
                <a:latin typeface="Aptos"/>
              </a:rPr>
              <a:t>ПОЧЕМУ СВОЯ БИБЛИОТЕКА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56949"/>
            <a:ext cx="73152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dirty="0">
                <a:solidFill>
                  <a:srgbClr val="96969B"/>
                </a:solidFill>
                <a:latin typeface="Aptos"/>
              </a:rPr>
              <a:t>03 / 0</a:t>
            </a:r>
            <a:r>
              <a:rPr lang="ru-RU" sz="1000" dirty="0">
                <a:solidFill>
                  <a:srgbClr val="96969B"/>
                </a:solidFill>
                <a:latin typeface="Aptos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7315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b="1">
                <a:solidFill>
                  <a:srgbClr val="F5F5F5"/>
                </a:solidFill>
                <a:latin typeface="Aptos"/>
              </a:rPr>
              <a:t>Практические преимущества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783080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6991FF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6152" y="1764792"/>
            <a:ext cx="44805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5F5"/>
                </a:solidFill>
                <a:latin typeface="Aptos"/>
              </a:rPr>
              <a:t>Минимум знаний React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6152" y="2167128"/>
            <a:ext cx="4480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6969B"/>
                </a:solidFill>
                <a:latin typeface="Aptos"/>
              </a:rPr>
              <a:t>типовые страницы собираются из конфигов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6792" y="1783080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6991FF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39712" y="1764792"/>
            <a:ext cx="44805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5F5"/>
                </a:solidFill>
                <a:latin typeface="Aptos"/>
              </a:rPr>
              <a:t>CRUD из коробки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9712" y="2242063"/>
            <a:ext cx="448056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ru-RU" sz="1100" b="0" dirty="0">
                <a:solidFill>
                  <a:srgbClr val="96969B"/>
                </a:solidFill>
                <a:latin typeface="Aptos"/>
              </a:rPr>
              <a:t>«сухой» </a:t>
            </a:r>
            <a:r>
              <a:rPr lang="en-US" sz="1100" b="0" dirty="0">
                <a:solidFill>
                  <a:srgbClr val="96969B"/>
                </a:solidFill>
                <a:latin typeface="Aptos"/>
              </a:rPr>
              <a:t>CRUD </a:t>
            </a:r>
            <a:r>
              <a:rPr lang="ru-RU" sz="1100" b="0" dirty="0">
                <a:solidFill>
                  <a:srgbClr val="96969B"/>
                </a:solidFill>
                <a:latin typeface="Aptos"/>
              </a:rPr>
              <a:t>без шаблонного кода и лишних зависимостей</a:t>
            </a:r>
            <a:endParaRPr sz="1100" b="0" dirty="0">
              <a:solidFill>
                <a:srgbClr val="96969B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13232" y="3136391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6991FF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2" y="3118103"/>
            <a:ext cx="44805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5F5"/>
                </a:solidFill>
                <a:latin typeface="Aptos"/>
              </a:rPr>
              <a:t>Формы + таблицы из конфига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520439"/>
            <a:ext cx="4480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6969B"/>
                </a:solidFill>
                <a:latin typeface="Aptos"/>
              </a:rPr>
              <a:t>единые правила для полей, фильтров и действий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3136391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6991FF"/>
                </a:solidFill>
                <a:latin typeface="Apto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9712" y="3118103"/>
            <a:ext cx="44805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5F5"/>
                </a:solidFill>
                <a:latin typeface="Aptos"/>
              </a:rPr>
              <a:t>Интеграция с нашим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3520439"/>
            <a:ext cx="4480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dirty="0" err="1">
                <a:solidFill>
                  <a:srgbClr val="96969B"/>
                </a:solidFill>
                <a:latin typeface="Aptos"/>
              </a:rPr>
              <a:t>форматы</a:t>
            </a:r>
            <a:r>
              <a:rPr sz="1100" b="0" dirty="0">
                <a:solidFill>
                  <a:srgbClr val="96969B"/>
                </a:solidFill>
                <a:latin typeface="Aptos"/>
              </a:rPr>
              <a:t>, </a:t>
            </a:r>
            <a:r>
              <a:rPr sz="1100" b="0" dirty="0" err="1">
                <a:solidFill>
                  <a:srgbClr val="96969B"/>
                </a:solidFill>
                <a:latin typeface="Aptos"/>
              </a:rPr>
              <a:t>ошибки</a:t>
            </a:r>
            <a:r>
              <a:rPr sz="1100" b="0" dirty="0">
                <a:solidFill>
                  <a:srgbClr val="96969B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96969B"/>
                </a:solidFill>
                <a:latin typeface="Aptos"/>
              </a:rPr>
              <a:t>и</a:t>
            </a:r>
            <a:r>
              <a:rPr sz="1100" b="0" dirty="0">
                <a:solidFill>
                  <a:srgbClr val="96969B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96969B"/>
                </a:solidFill>
                <a:latin typeface="Aptos"/>
              </a:rPr>
              <a:t>сценарии</a:t>
            </a:r>
            <a:r>
              <a:rPr sz="1100" b="0" dirty="0">
                <a:solidFill>
                  <a:srgbClr val="96969B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96969B"/>
                </a:solidFill>
                <a:latin typeface="Aptos"/>
              </a:rPr>
              <a:t>уже</a:t>
            </a:r>
            <a:r>
              <a:rPr sz="1100" b="0" dirty="0">
                <a:solidFill>
                  <a:srgbClr val="96969B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96969B"/>
                </a:solidFill>
                <a:latin typeface="Aptos"/>
              </a:rPr>
              <a:t>известны</a:t>
            </a:r>
            <a:r>
              <a:rPr sz="1100" b="0" dirty="0">
                <a:solidFill>
                  <a:srgbClr val="96969B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96969B"/>
                </a:solidFill>
                <a:latin typeface="Aptos"/>
              </a:rPr>
              <a:t>библиотеке</a:t>
            </a:r>
            <a:endParaRPr sz="1100" b="0" dirty="0">
              <a:solidFill>
                <a:srgbClr val="96969B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13232" y="4489704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6991FF"/>
                </a:solidFill>
                <a:latin typeface="Apto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4471416"/>
            <a:ext cx="44805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F5F5"/>
                </a:solidFill>
                <a:latin typeface="Aptos"/>
              </a:rPr>
              <a:t>Единообразный UX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948687"/>
            <a:ext cx="448056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dirty="0" err="1">
                <a:solidFill>
                  <a:srgbClr val="96969B"/>
                </a:solidFill>
                <a:latin typeface="Aptos"/>
              </a:rPr>
              <a:t>одинаковые</a:t>
            </a:r>
            <a:r>
              <a:rPr sz="1100" b="0" dirty="0">
                <a:solidFill>
                  <a:srgbClr val="96969B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96969B"/>
                </a:solidFill>
                <a:latin typeface="Aptos"/>
              </a:rPr>
              <a:t>сценарии</a:t>
            </a:r>
            <a:endParaRPr sz="1100" b="0" dirty="0">
              <a:solidFill>
                <a:srgbClr val="96969B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36792" y="4489704"/>
            <a:ext cx="411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6991FF"/>
                </a:solidFill>
                <a:latin typeface="Aptos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9712" y="4471416"/>
            <a:ext cx="44805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ru-RU" sz="1600" b="1" dirty="0">
                <a:solidFill>
                  <a:srgbClr val="F5F5F5"/>
                </a:solidFill>
                <a:latin typeface="Aptos"/>
              </a:rPr>
              <a:t>Своя кодовая база</a:t>
            </a:r>
            <a:endParaRPr sz="1600" b="1" dirty="0">
              <a:solidFill>
                <a:srgbClr val="F5F5F5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39712" y="4864048"/>
            <a:ext cx="448056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ru-RU" sz="1100" dirty="0">
                <a:solidFill>
                  <a:schemeClr val="bg1">
                    <a:lumMod val="50000"/>
                  </a:schemeClr>
                </a:solidFill>
                <a:latin typeface="Aptos"/>
              </a:rPr>
              <a:t>можем исправить баг сразу, контролировать поведение и делать уникальные компоненты под наши процессы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0040"/>
            <a:ext cx="6400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96969B"/>
                </a:solidFill>
                <a:latin typeface="Aptos"/>
              </a:rPr>
              <a:t>РЕЗУЛЬТАТ ЗАДАНИЯ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44200" y="356949"/>
            <a:ext cx="73152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dirty="0">
                <a:solidFill>
                  <a:srgbClr val="96969B"/>
                </a:solidFill>
                <a:latin typeface="Aptos"/>
              </a:rPr>
              <a:t>04 / 0</a:t>
            </a:r>
            <a:r>
              <a:rPr lang="ru-RU" sz="1000" b="0" dirty="0">
                <a:solidFill>
                  <a:srgbClr val="96969B"/>
                </a:solidFill>
                <a:latin typeface="Aptos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56692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b="1">
                <a:solidFill>
                  <a:srgbClr val="F5F5F5"/>
                </a:solidFill>
                <a:latin typeface="Aptos"/>
              </a:rPr>
              <a:t>Что должно появиться</a:t>
            </a:r>
            <a:br/>
            <a:r>
              <a:rPr sz="3100" b="1">
                <a:solidFill>
                  <a:srgbClr val="F5F5F5"/>
                </a:solidFill>
                <a:latin typeface="Aptos"/>
              </a:rPr>
              <a:t>в результате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290792"/>
            <a:ext cx="507492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ru-RU" sz="1600" b="0" dirty="0">
                <a:solidFill>
                  <a:srgbClr val="96969B"/>
                </a:solidFill>
                <a:latin typeface="Aptos"/>
              </a:rPr>
              <a:t>Н</a:t>
            </a:r>
            <a:r>
              <a:rPr sz="1600" b="0" dirty="0" err="1">
                <a:solidFill>
                  <a:srgbClr val="96969B"/>
                </a:solidFill>
                <a:latin typeface="Aptos"/>
              </a:rPr>
              <a:t>абор</a:t>
            </a:r>
            <a:r>
              <a:rPr sz="1600" b="0" dirty="0">
                <a:solidFill>
                  <a:srgbClr val="96969B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96969B"/>
                </a:solidFill>
                <a:latin typeface="Aptos"/>
              </a:rPr>
              <a:t>визуальных</a:t>
            </a:r>
            <a:r>
              <a:rPr sz="1600" b="0" dirty="0">
                <a:solidFill>
                  <a:srgbClr val="96969B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96969B"/>
                </a:solidFill>
                <a:latin typeface="Aptos"/>
              </a:rPr>
              <a:t>компонентов</a:t>
            </a:r>
            <a:r>
              <a:rPr sz="1600" b="0" dirty="0">
                <a:solidFill>
                  <a:srgbClr val="96969B"/>
                </a:solidFill>
                <a:latin typeface="Aptos"/>
              </a:rPr>
              <a:t>,</a:t>
            </a:r>
            <a:r>
              <a:rPr lang="ru-RU" sz="1600" b="0" dirty="0">
                <a:solidFill>
                  <a:srgbClr val="96969B"/>
                </a:solidFill>
                <a:latin typeface="Aptos"/>
              </a:rPr>
              <a:t> как</a:t>
            </a:r>
            <a:r>
              <a:rPr sz="1600" b="0" dirty="0">
                <a:solidFill>
                  <a:srgbClr val="96969B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96969B"/>
                </a:solidFill>
                <a:latin typeface="Aptos"/>
              </a:rPr>
              <a:t>устойчивый</a:t>
            </a:r>
            <a:r>
              <a:rPr sz="1600" b="0" dirty="0">
                <a:solidFill>
                  <a:srgbClr val="96969B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96969B"/>
                </a:solidFill>
                <a:latin typeface="Aptos"/>
              </a:rPr>
              <a:t>слой</a:t>
            </a:r>
            <a:r>
              <a:rPr sz="1600" b="0" dirty="0">
                <a:solidFill>
                  <a:srgbClr val="96969B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96969B"/>
                </a:solidFill>
                <a:latin typeface="Aptos"/>
              </a:rPr>
              <a:t>между</a:t>
            </a:r>
            <a:r>
              <a:rPr sz="1600" b="0" dirty="0">
                <a:solidFill>
                  <a:srgbClr val="96969B"/>
                </a:solidFill>
                <a:latin typeface="Aptos"/>
              </a:rPr>
              <a:t> backend API </a:t>
            </a:r>
            <a:r>
              <a:rPr sz="1600" b="0" dirty="0" err="1">
                <a:solidFill>
                  <a:srgbClr val="96969B"/>
                </a:solidFill>
                <a:latin typeface="Aptos"/>
              </a:rPr>
              <a:t>и</a:t>
            </a:r>
            <a:r>
              <a:rPr sz="1600" b="0" dirty="0">
                <a:solidFill>
                  <a:srgbClr val="96969B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96969B"/>
                </a:solidFill>
                <a:latin typeface="Aptos"/>
              </a:rPr>
              <a:t>интерфейсом</a:t>
            </a:r>
            <a:r>
              <a:rPr sz="1600" b="0" dirty="0">
                <a:solidFill>
                  <a:srgbClr val="96969B"/>
                </a:solidFill>
                <a:latin typeface="Aptos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051560"/>
            <a:ext cx="2377440" cy="1664208"/>
          </a:xfrm>
          <a:prstGeom prst="roundRect">
            <a:avLst>
              <a:gd name="adj" fmla="val 8000"/>
            </a:avLst>
          </a:prstGeom>
          <a:solidFill>
            <a:srgbClr val="0E0E10"/>
          </a:solidFill>
          <a:ln>
            <a:solidFill>
              <a:srgbClr val="303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216151"/>
            <a:ext cx="365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6991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18488"/>
            <a:ext cx="187451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"/>
              </a:rPr>
              <a:t>Базовый слой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75688"/>
            <a:ext cx="187451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6969B"/>
                </a:solidFill>
                <a:latin typeface="Aptos"/>
              </a:rPr>
              <a:t>CRUD API · типы · ошибки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051560"/>
            <a:ext cx="2377440" cy="1664208"/>
          </a:xfrm>
          <a:prstGeom prst="roundRect">
            <a:avLst>
              <a:gd name="adj" fmla="val 8000"/>
            </a:avLst>
          </a:prstGeom>
          <a:solidFill>
            <a:srgbClr val="0E0E10"/>
          </a:solidFill>
          <a:ln>
            <a:solidFill>
              <a:srgbClr val="303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52560" y="1216151"/>
            <a:ext cx="365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6991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618488"/>
            <a:ext cx="187451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"/>
              </a:rPr>
              <a:t>Декларативный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2052269"/>
            <a:ext cx="1874519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dirty="0" err="1">
                <a:solidFill>
                  <a:srgbClr val="96969B"/>
                </a:solidFill>
                <a:latin typeface="Aptos"/>
              </a:rPr>
              <a:t>NTable</a:t>
            </a:r>
            <a:r>
              <a:rPr sz="1100" b="0" dirty="0">
                <a:solidFill>
                  <a:srgbClr val="96969B"/>
                </a:solidFill>
                <a:latin typeface="Aptos"/>
              </a:rPr>
              <a:t> · </a:t>
            </a:r>
            <a:r>
              <a:rPr sz="1100" b="0" dirty="0" err="1">
                <a:solidFill>
                  <a:srgbClr val="96969B"/>
                </a:solidFill>
                <a:latin typeface="Aptos"/>
              </a:rPr>
              <a:t>NForm</a:t>
            </a:r>
            <a:r>
              <a:rPr sz="1100" b="0" dirty="0">
                <a:solidFill>
                  <a:srgbClr val="96969B"/>
                </a:solidFill>
                <a:latin typeface="Aptos"/>
              </a:rPr>
              <a:t> ·</a:t>
            </a:r>
            <a:r>
              <a:rPr lang="ru-RU" sz="1100" b="0" dirty="0">
                <a:solidFill>
                  <a:srgbClr val="96969B"/>
                </a:solidFill>
                <a:latin typeface="Aptos"/>
              </a:rPr>
              <a:t> </a:t>
            </a:r>
            <a:r>
              <a:rPr lang="en-US" sz="1100" b="0" dirty="0">
                <a:solidFill>
                  <a:srgbClr val="96969B"/>
                </a:solidFill>
                <a:latin typeface="Aptos"/>
              </a:rPr>
              <a:t>API </a:t>
            </a:r>
            <a:r>
              <a:rPr lang="ru-RU" sz="1100" b="0" dirty="0">
                <a:solidFill>
                  <a:srgbClr val="96969B"/>
                </a:solidFill>
                <a:latin typeface="Aptos"/>
              </a:rPr>
              <a:t>с типами</a:t>
            </a:r>
            <a:endParaRPr sz="1100" b="0" dirty="0">
              <a:solidFill>
                <a:srgbClr val="96969B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172200" y="3108960"/>
            <a:ext cx="2377440" cy="1664208"/>
          </a:xfrm>
          <a:prstGeom prst="roundRect">
            <a:avLst>
              <a:gd name="adj" fmla="val 8000"/>
            </a:avLst>
          </a:prstGeom>
          <a:solidFill>
            <a:srgbClr val="0E0E10"/>
          </a:solidFill>
          <a:ln>
            <a:solidFill>
              <a:srgbClr val="303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3273552"/>
            <a:ext cx="365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6991FF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675887"/>
            <a:ext cx="187451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"/>
              </a:rPr>
              <a:t>Рабочие сценарии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60" y="3108960"/>
            <a:ext cx="2377440" cy="1664208"/>
          </a:xfrm>
          <a:prstGeom prst="roundRect">
            <a:avLst>
              <a:gd name="adj" fmla="val 8000"/>
            </a:avLst>
          </a:prstGeom>
          <a:solidFill>
            <a:srgbClr val="0E0E10"/>
          </a:solidFill>
          <a:ln>
            <a:solidFill>
              <a:srgbClr val="303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52560" y="3273552"/>
            <a:ext cx="365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6991FF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675887"/>
            <a:ext cx="187451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Aptos"/>
              </a:rPr>
              <a:t>Документация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4133087"/>
            <a:ext cx="187451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6969B"/>
                </a:solidFill>
                <a:latin typeface="Aptos"/>
              </a:rPr>
              <a:t>примеры для backend-разработчика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3886200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6991FF"/>
                </a:solidFill>
                <a:latin typeface="Aptos"/>
              </a:rPr>
              <a:t>Критерий успеха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297680"/>
            <a:ext cx="498348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F5F5F5"/>
                </a:solidFill>
                <a:latin typeface="Aptos"/>
              </a:rPr>
              <a:t>Новая типовая CRUD-страница создаётся преимущественно конфигом — без копирования frontend-кода между проектами.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5486400"/>
            <a:ext cx="1691640" cy="384048"/>
          </a:xfrm>
          <a:prstGeom prst="roundRect">
            <a:avLst>
              <a:gd name="adj" fmla="val 8000"/>
            </a:avLst>
          </a:prstGeom>
          <a:solidFill>
            <a:srgbClr val="141417"/>
          </a:solidFill>
          <a:ln>
            <a:solidFill>
              <a:srgbClr val="303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81928" y="5504688"/>
            <a:ext cx="1472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Aptos"/>
              </a:rPr>
              <a:t>быстрее разработка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28431" y="5486400"/>
            <a:ext cx="1417320" cy="384048"/>
          </a:xfrm>
          <a:prstGeom prst="roundRect">
            <a:avLst>
              <a:gd name="adj" fmla="val 8000"/>
            </a:avLst>
          </a:prstGeom>
          <a:solidFill>
            <a:srgbClr val="141417"/>
          </a:solidFill>
          <a:ln>
            <a:solidFill>
              <a:srgbClr val="303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38159" y="5504688"/>
            <a:ext cx="119786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Aptos"/>
              </a:rPr>
              <a:t>меньше багов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0" y="5486400"/>
            <a:ext cx="1572768" cy="384048"/>
          </a:xfrm>
          <a:prstGeom prst="roundRect">
            <a:avLst>
              <a:gd name="adj" fmla="val 8000"/>
            </a:avLst>
          </a:prstGeom>
          <a:solidFill>
            <a:srgbClr val="141417"/>
          </a:solidFill>
          <a:ln>
            <a:solidFill>
              <a:srgbClr val="303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710928" y="5504688"/>
            <a:ext cx="135331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Aptos"/>
              </a:rPr>
              <a:t>больше контроля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306C79-F8E8-0A65-E6DD-5687D77D8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08A169-D198-25ED-0714-F998568B3002}"/>
              </a:ext>
            </a:extLst>
          </p:cNvPr>
          <p:cNvSpPr txBox="1"/>
          <p:nvPr/>
        </p:nvSpPr>
        <p:spPr>
          <a:xfrm>
            <a:off x="685800" y="320040"/>
            <a:ext cx="6400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96969B"/>
                </a:solidFill>
                <a:latin typeface="Aptos"/>
              </a:rPr>
              <a:t>РЕЗУЛЬТАТ ЗАДАНИЯ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40C6D2-3667-0C3B-2746-3E8DEB1D71EA}"/>
              </a:ext>
            </a:extLst>
          </p:cNvPr>
          <p:cNvSpPr txBox="1"/>
          <p:nvPr/>
        </p:nvSpPr>
        <p:spPr>
          <a:xfrm>
            <a:off x="10744200" y="356949"/>
            <a:ext cx="73152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 dirty="0">
                <a:solidFill>
                  <a:srgbClr val="96969B"/>
                </a:solidFill>
                <a:latin typeface="Aptos"/>
              </a:rPr>
              <a:t>0</a:t>
            </a:r>
            <a:r>
              <a:rPr lang="ru-RU" sz="1000" b="0" dirty="0">
                <a:solidFill>
                  <a:srgbClr val="96969B"/>
                </a:solidFill>
                <a:latin typeface="Aptos"/>
              </a:rPr>
              <a:t>5</a:t>
            </a:r>
            <a:r>
              <a:rPr sz="1000" b="0" dirty="0">
                <a:solidFill>
                  <a:srgbClr val="96969B"/>
                </a:solidFill>
                <a:latin typeface="Aptos"/>
              </a:rPr>
              <a:t> / 0</a:t>
            </a:r>
            <a:r>
              <a:rPr lang="ru-RU" sz="1000" b="0" dirty="0">
                <a:solidFill>
                  <a:srgbClr val="96969B"/>
                </a:solidFill>
                <a:latin typeface="Aptos"/>
              </a:rPr>
              <a:t>5</a:t>
            </a:r>
            <a:endParaRPr sz="1000" b="0" dirty="0">
              <a:solidFill>
                <a:srgbClr val="96969B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0C5831-482C-334A-C3C4-5E4F463BACB2}"/>
              </a:ext>
            </a:extLst>
          </p:cNvPr>
          <p:cNvSpPr txBox="1"/>
          <p:nvPr/>
        </p:nvSpPr>
        <p:spPr>
          <a:xfrm>
            <a:off x="685800" y="1178346"/>
            <a:ext cx="5669280" cy="5693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ru-RU" sz="3100" b="1" dirty="0">
                <a:solidFill>
                  <a:srgbClr val="F5F5F5"/>
                </a:solidFill>
                <a:latin typeface="Aptos"/>
              </a:rPr>
              <a:t>Потенциально</a:t>
            </a:r>
            <a:endParaRPr sz="3100" b="1" dirty="0">
              <a:solidFill>
                <a:srgbClr val="F5F5F5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00170A-E884-6DC1-CF25-1ECC71C9522F}"/>
              </a:ext>
            </a:extLst>
          </p:cNvPr>
          <p:cNvSpPr txBox="1"/>
          <p:nvPr/>
        </p:nvSpPr>
        <p:spPr>
          <a:xfrm>
            <a:off x="713232" y="2290792"/>
            <a:ext cx="507492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ru-RU" sz="1600" dirty="0">
                <a:solidFill>
                  <a:srgbClr val="96969B"/>
                </a:solidFill>
                <a:latin typeface="Aptos"/>
              </a:rPr>
              <a:t>Развитие в свой </a:t>
            </a:r>
            <a:r>
              <a:rPr lang="en-US" sz="1600" dirty="0" err="1">
                <a:solidFill>
                  <a:srgbClr val="96969B"/>
                </a:solidFill>
                <a:latin typeface="Aptos"/>
              </a:rPr>
              <a:t>npm</a:t>
            </a:r>
            <a:r>
              <a:rPr lang="en-US" sz="1600" dirty="0">
                <a:solidFill>
                  <a:srgbClr val="96969B"/>
                </a:solidFill>
                <a:latin typeface="Aptos"/>
              </a:rPr>
              <a:t> </a:t>
            </a:r>
            <a:r>
              <a:rPr lang="en-US" sz="1600" dirty="0" err="1">
                <a:solidFill>
                  <a:srgbClr val="96969B"/>
                </a:solidFill>
                <a:latin typeface="Aptos"/>
              </a:rPr>
              <a:t>js</a:t>
            </a:r>
            <a:r>
              <a:rPr lang="en-US" sz="1600" dirty="0">
                <a:solidFill>
                  <a:srgbClr val="96969B"/>
                </a:solidFill>
                <a:latin typeface="Aptos"/>
              </a:rPr>
              <a:t> </a:t>
            </a:r>
            <a:r>
              <a:rPr lang="ru-RU" sz="1600" dirty="0">
                <a:solidFill>
                  <a:srgbClr val="96969B"/>
                </a:solidFill>
                <a:latin typeface="Aptos"/>
              </a:rPr>
              <a:t>модуль, устанавливаемый, как единая зависимость, во все проекты.</a:t>
            </a:r>
            <a:endParaRPr sz="1600" b="0" dirty="0">
              <a:solidFill>
                <a:srgbClr val="96969B"/>
              </a:solidFill>
              <a:latin typeface="Apto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FC51C1-BF69-DC0A-9486-9C3F6DF73E31}"/>
              </a:ext>
            </a:extLst>
          </p:cNvPr>
          <p:cNvSpPr txBox="1"/>
          <p:nvPr/>
        </p:nvSpPr>
        <p:spPr>
          <a:xfrm>
            <a:off x="713232" y="3886200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dirty="0" err="1">
                <a:solidFill>
                  <a:srgbClr val="6991FF"/>
                </a:solidFill>
                <a:latin typeface="Aptos"/>
              </a:rPr>
              <a:t>Критерий</a:t>
            </a:r>
            <a:r>
              <a:rPr sz="1100" b="1" dirty="0">
                <a:solidFill>
                  <a:srgbClr val="6991FF"/>
                </a:solidFill>
                <a:latin typeface="Aptos"/>
              </a:rPr>
              <a:t> </a:t>
            </a:r>
            <a:r>
              <a:rPr sz="1100" b="1" dirty="0" err="1">
                <a:solidFill>
                  <a:srgbClr val="6991FF"/>
                </a:solidFill>
                <a:latin typeface="Aptos"/>
              </a:rPr>
              <a:t>успеха</a:t>
            </a:r>
            <a:endParaRPr sz="1100" b="1" dirty="0">
              <a:solidFill>
                <a:srgbClr val="6991FF"/>
              </a:solidFill>
              <a:latin typeface="Apto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0FBA36-D671-F7A3-A3CC-2AB7DC4594A9}"/>
              </a:ext>
            </a:extLst>
          </p:cNvPr>
          <p:cNvSpPr txBox="1"/>
          <p:nvPr/>
        </p:nvSpPr>
        <p:spPr>
          <a:xfrm>
            <a:off x="713232" y="4206240"/>
            <a:ext cx="4983480" cy="738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ru-RU" sz="2100" b="1" dirty="0">
                <a:solidFill>
                  <a:srgbClr val="F5F5F5"/>
                </a:solidFill>
                <a:latin typeface="Aptos"/>
              </a:rPr>
              <a:t>Модуль развивается и «живет» бок о бок с каждым проектом Управления</a:t>
            </a:r>
            <a:endParaRPr sz="2100" b="1" dirty="0">
              <a:solidFill>
                <a:srgbClr val="F5F5F5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65042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589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306</Words>
  <Application>Microsoft Macintosh PowerPoint</Application>
  <PresentationFormat>Широкоэкранный</PresentationFormat>
  <Paragraphs>74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Андрей Захаров</cp:lastModifiedBy>
  <cp:revision>2</cp:revision>
  <dcterms:created xsi:type="dcterms:W3CDTF">2013-01-27T09:14:16Z</dcterms:created>
  <dcterms:modified xsi:type="dcterms:W3CDTF">2026-09-29T11:39:56Z</dcterms:modified>
  <cp:category/>
</cp:coreProperties>
</file>